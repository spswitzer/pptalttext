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8367"/>
    <a:srgbClr val="000000"/>
    <a:srgbClr val="971B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>
      <p:cViewPr varScale="1">
        <p:scale>
          <a:sx n="75" d="100"/>
          <a:sy n="75" d="100"/>
        </p:scale>
        <p:origin x="1044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7C0CF-E373-45E4-ADB5-E371859B062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20EE8-780F-42EB-AA43-00E2FB78C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62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1794F2-DC6B-E4B5-73F2-9E2E192631BA}"/>
              </a:ext>
            </a:extLst>
          </p:cNvPr>
          <p:cNvSpPr/>
          <p:nvPr userDrawn="1"/>
        </p:nvSpPr>
        <p:spPr>
          <a:xfrm>
            <a:off x="-152400" y="228600"/>
            <a:ext cx="7924800" cy="213360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200" y="304801"/>
            <a:ext cx="7696200" cy="1981200"/>
          </a:xfrm>
          <a:ln w="76200">
            <a:noFill/>
            <a:miter lim="800000"/>
          </a:ln>
        </p:spPr>
        <p:txBody>
          <a:bodyPr>
            <a:noAutofit/>
          </a:bodyPr>
          <a:lstStyle>
            <a:lvl1pPr>
              <a:defRPr lang="en-US" sz="3200" b="1" i="0" u="none" strike="noStrike" cap="none" baseline="0" dirty="0">
                <a:solidFill>
                  <a:schemeClr val="bg1"/>
                </a:solidFill>
                <a:latin typeface="Montserrat bold"/>
                <a:ea typeface="Roboto Slab Thin"/>
                <a:cs typeface="Roboto Slab Thin"/>
                <a:sym typeface="Roboto Slab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09999" y="5562600"/>
            <a:ext cx="5139447" cy="597616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A green and blue text on a black background&#10;&#10;AI-generated content may be incorrect.">
            <a:extLst>
              <a:ext uri="{FF2B5EF4-FFF2-40B4-BE49-F238E27FC236}">
                <a16:creationId xmlns:a16="http://schemas.microsoft.com/office/drawing/2014/main" id="{B316CC26-7B38-8FCF-75F2-E7A7C29A2E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6400800"/>
            <a:ext cx="845277" cy="309720"/>
          </a:xfrm>
          <a:prstGeom prst="rect">
            <a:avLst/>
          </a:prstGeom>
        </p:spPr>
      </p:pic>
      <p:pic>
        <p:nvPicPr>
          <p:cNvPr id="12" name="Picture 11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D41818EA-BA1F-1218-B8FC-054867BEEC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6400800"/>
            <a:ext cx="1752600" cy="37555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09E65F-D003-BC99-55EA-BEDE87351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18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B4A91-96BF-4F5A-8E06-6BBC767943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09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E0FBFE-1F53-9CBD-9606-1FECA3B6CDC2}"/>
              </a:ext>
            </a:extLst>
          </p:cNvPr>
          <p:cNvSpPr/>
          <p:nvPr userDrawn="1"/>
        </p:nvSpPr>
        <p:spPr>
          <a:xfrm>
            <a:off x="-152400" y="228600"/>
            <a:ext cx="8839200" cy="795562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024165"/>
            <a:ext cx="8696325" cy="5029198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40B4CA8-8A85-9208-F15B-93D178B6A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18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B4A91-96BF-4F5A-8E06-6BBC767943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green and blue text on a black background&#10;&#10;AI-generated content may be incorrect.">
            <a:extLst>
              <a:ext uri="{FF2B5EF4-FFF2-40B4-BE49-F238E27FC236}">
                <a16:creationId xmlns:a16="http://schemas.microsoft.com/office/drawing/2014/main" id="{E957C6BA-6D39-5FDB-5EF2-966B939303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6400800"/>
            <a:ext cx="845277" cy="309720"/>
          </a:xfrm>
          <a:prstGeom prst="rect">
            <a:avLst/>
          </a:prstGeom>
        </p:spPr>
      </p:pic>
      <p:pic>
        <p:nvPicPr>
          <p:cNvPr id="7" name="Picture 6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64806465-9ED8-28DC-AADD-7E5411E519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6400800"/>
            <a:ext cx="1752600" cy="37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03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A36E3C-28C2-6499-2ED7-7C1A9921817C}"/>
              </a:ext>
            </a:extLst>
          </p:cNvPr>
          <p:cNvSpPr/>
          <p:nvPr userDrawn="1"/>
        </p:nvSpPr>
        <p:spPr>
          <a:xfrm>
            <a:off x="-228600" y="1371600"/>
            <a:ext cx="9525000" cy="3124200"/>
          </a:xfrm>
          <a:prstGeom prst="rect">
            <a:avLst/>
          </a:prstGeom>
          <a:solidFill>
            <a:srgbClr val="1B8367"/>
          </a:solidFill>
          <a:ln>
            <a:solidFill>
              <a:srgbClr val="1B83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55686"/>
            <a:ext cx="7772400" cy="2314321"/>
          </a:xfrm>
          <a:ln w="76200">
            <a:noFill/>
            <a:miter lim="800000"/>
          </a:ln>
        </p:spPr>
        <p:txBody>
          <a:bodyPr anchor="ctr">
            <a:normAutofit/>
          </a:bodyPr>
          <a:lstStyle>
            <a:lvl1pPr algn="ctr">
              <a:defRPr sz="36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80CF6-BBE6-EA78-EB7F-737396120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18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B4A91-96BF-4F5A-8E06-6BBC76794387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green and blue text on a black background&#10;&#10;AI-generated content may be incorrect.">
            <a:extLst>
              <a:ext uri="{FF2B5EF4-FFF2-40B4-BE49-F238E27FC236}">
                <a16:creationId xmlns:a16="http://schemas.microsoft.com/office/drawing/2014/main" id="{0028C6F6-6130-D974-1AB1-6C3870556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6400800"/>
            <a:ext cx="845277" cy="309720"/>
          </a:xfrm>
          <a:prstGeom prst="rect">
            <a:avLst/>
          </a:prstGeom>
        </p:spPr>
      </p:pic>
      <p:pic>
        <p:nvPicPr>
          <p:cNvPr id="8" name="Picture 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89512C30-D7A3-4A3F-7E2C-117FDF9763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6400800"/>
            <a:ext cx="1752600" cy="37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4C2EB-3F3F-4BF1-91DB-76F0C4CCEC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99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-457200"/>
            <a:ext cx="7543800" cy="2971799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rPr dirty="0"/>
              <a:t>Jeffco Listens: Family Survey 2025-2026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09999" y="5562600"/>
            <a:ext cx="5139447" cy="597616"/>
          </a:xfrm>
        </p:spPr>
        <p:txBody>
          <a:bodyPr>
            <a:normAutofit fontScale="55000" lnSpcReduction="20000"/>
          </a:bodyPr>
          <a:lstStyle/>
          <a:p>
            <a:pPr marL="0" lvl="0" indent="0">
              <a:buNone/>
            </a:pPr>
            <a:br/>
            <a:br/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C6622-9CD1-46FE-A38E-75135DBDA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55686"/>
            <a:ext cx="7772400" cy="2314321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Addenbrooke Classical Academy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73C878-E2F1-CBAF-B22E-4ABD2B27C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Jeffco Listens Family Survey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School Safety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School Climate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School Fit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Jeffco Strategic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D78E6-3BDD-A7FB-BA04-1F9B361FE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Questions to 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How did your school compare to the district?</a:t>
            </a:r>
          </a:p>
          <a:p>
            <a:pPr marL="0" lvl="0" indent="0">
              <a:buNone/>
            </a:pPr>
            <a:br/>
            <a:endParaRPr/>
          </a:p>
          <a:p>
            <a:pPr marL="0" lvl="0" indent="0">
              <a:buNone/>
            </a:pPr>
            <a:r>
              <a:t>Are there relative strengths or areas of concern that need further consideration?</a:t>
            </a:r>
          </a:p>
          <a:p>
            <a:pPr marL="0" lvl="0" indent="0">
              <a:buNone/>
            </a:pPr>
            <a:r>
              <a:t> </a:t>
            </a:r>
          </a:p>
          <a:p>
            <a:pPr marL="0" lvl="0" indent="0">
              <a:buNone/>
            </a:pPr>
            <a:r>
              <a:t>Consider participation rates that may impact results if not representative of school population?</a:t>
            </a:r>
          </a:p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1C869-4184-B62F-C32F-A082FA7A2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Overall Participation Rates</a:t>
            </a:r>
          </a:p>
        </p:txBody>
      </p:sp>
      <p:pic>
        <p:nvPicPr>
          <p:cNvPr id="3" name="Picture 1" descr="G:\Shared%20drives\Research%20&amp;%20Assessment%20Design%20(RAD)\L1%20Projects\District%20Surveys\Reporting\powerPointTesting\Reports\Addenbrooke%20Classical%20AcademyPanoFam2526_files/figure-pptx/OverallResponseRate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" y="1295400"/>
            <a:ext cx="8686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BC6B7-C9ED-2253-0495-07037FBB2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Topic Level Results</a:t>
            </a:r>
          </a:p>
        </p:txBody>
      </p:sp>
      <p:pic>
        <p:nvPicPr>
          <p:cNvPr id="3" name="Picture 1" descr="G:\Shared%20drives\Research%20&amp;%20Assessment%20Design%20(RAD)\L1%20Projects\District%20Surveys\Reporting\powerPointTesting\Reports\Addenbrooke%20Classical%20AcademyPanoFam2526_files/figure-pptx/OverallTopic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" y="1295400"/>
            <a:ext cx="8686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891CE-771C-9503-0566-CB5540621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School Fit</a:t>
            </a:r>
          </a:p>
        </p:txBody>
      </p:sp>
      <p:pic>
        <p:nvPicPr>
          <p:cNvPr id="3" name="Picture 1" descr="G:\Shared%20drives\Research%20&amp;%20Assessment%20Design%20(RAD)\L1%20Projects\District%20Surveys\Reporting\powerPointTesting\Reports\Addenbrooke%20Classical%20AcademyPanoFam2526_files/figure-pptx/sschoolFitPlo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" y="1295400"/>
            <a:ext cx="8686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8B507-F350-97B3-4B84-EFFC01366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School Climate</a:t>
            </a:r>
          </a:p>
        </p:txBody>
      </p:sp>
      <p:pic>
        <p:nvPicPr>
          <p:cNvPr id="3" name="Picture 1" descr="G:\Shared%20drives\Research%20&amp;%20Assessment%20Design%20(RAD)\L1%20Projects\District%20Surveys\Reporting\powerPointTesting\Reports\Addenbrooke%20Classical%20AcademyPanoFam2526_files/figure-pptx/SchoolClimatePlo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" y="1295400"/>
            <a:ext cx="8686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06295-4D03-6C89-5178-D72129E89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School Safety</a:t>
            </a:r>
          </a:p>
        </p:txBody>
      </p:sp>
      <p:pic>
        <p:nvPicPr>
          <p:cNvPr id="3" name="Picture 1" descr="G:\Shared%20drives\Research%20&amp;%20Assessment%20Design%20(RAD)\L1%20Projects\District%20Surveys\Reporting\powerPointTesting\Reports\Addenbrooke%20Classical%20AcademyPanoFam2526_files/figure-pptx/SchoolSafetyPlo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" y="1295400"/>
            <a:ext cx="8686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ED33C-A55F-FEED-5349-2954AC48B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Jeffco Strategic Plan</a:t>
            </a:r>
          </a:p>
        </p:txBody>
      </p:sp>
      <p:pic>
        <p:nvPicPr>
          <p:cNvPr id="3" name="Picture 1" descr="G:\Shared%20drives\Research%20&amp;%20Assessment%20Design%20(RAD)\L1%20Projects\District%20Surveys\Reporting\powerPointTesting\Reports\Addenbrooke%20Classical%20AcademyPanoFam2526_files/figure-pptx/strategicPlanPlo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" y="1295400"/>
            <a:ext cx="8686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AAAA3-162C-D6E9-7A76-32D51C012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75" y="228600"/>
            <a:ext cx="8696325" cy="762000"/>
          </a:xfrm>
          <a:ln w="76200">
            <a:noFill/>
            <a:miter lim="800000"/>
          </a:ln>
        </p:spPr>
        <p:txBody>
          <a:bodyPr/>
          <a:lstStyle/>
          <a:p>
            <a:pPr marL="0" lvl="0" indent="0">
              <a:buNone/>
            </a:pPr>
            <a:r>
              <a:t>Digging Deeper Into Our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Celebrations</a:t>
            </a:r>
          </a:p>
          <a:p>
            <a:pPr lvl="1"/>
            <a:r>
              <a:t>Your text here</a:t>
            </a:r>
          </a:p>
          <a:p>
            <a:pPr lvl="1"/>
            <a:r>
              <a:t>Your text here</a:t>
            </a:r>
          </a:p>
          <a:p>
            <a:pPr lvl="0"/>
            <a:r>
              <a:t>Areas of Challenge</a:t>
            </a:r>
          </a:p>
          <a:p>
            <a:pPr lvl="1"/>
            <a:r>
              <a:t>Your text here</a:t>
            </a:r>
          </a:p>
          <a:p>
            <a:pPr lvl="1"/>
            <a:r>
              <a:t>Your text here</a:t>
            </a:r>
          </a:p>
          <a:p>
            <a:pPr lvl="0"/>
            <a:r>
              <a:t>Narrowing the focus</a:t>
            </a:r>
          </a:p>
          <a:p>
            <a:pPr lvl="0"/>
            <a:r>
              <a:t>Drilling down into other data sources e.g., Jeffco Listens Student Survey, Jeffco Listens Employee 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78FB7-FA5B-49F3-E508-D8E8F568A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5B4A91-96BF-4F5A-8E06-6BBC7679438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ffco Generations_2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Jeffco Generations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136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Montserrat bold</vt:lpstr>
      <vt:lpstr>Jeffco Generations_2</vt:lpstr>
      <vt:lpstr>Jeffco Listens: Family Survey 2025-2026 Results</vt:lpstr>
      <vt:lpstr>Addenbrooke Classical Academy</vt:lpstr>
      <vt:lpstr>Jeffco Listens Family Survey Topics</vt:lpstr>
      <vt:lpstr>Questions to Consider</vt:lpstr>
      <vt:lpstr>Overall Participation Rates</vt:lpstr>
      <vt:lpstr>Topic Level Results</vt:lpstr>
      <vt:lpstr>School Fit</vt:lpstr>
      <vt:lpstr>School Climate</vt:lpstr>
      <vt:lpstr>School Safety</vt:lpstr>
      <vt:lpstr>Jeffco Strategic Plan</vt:lpstr>
      <vt:lpstr>Digging Deeper Into Our Results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247</TotalTime>
  <Words>11</Words>
  <Application>Microsoft Office PowerPoint</Application>
  <PresentationFormat>On-screen Show (4:3)</PresentationFormat>
  <Paragraphs>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Roboto Slab Thin</vt:lpstr>
      <vt:lpstr>Jeffco Generations_2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Jeffco Listens: Family Survey 2025-2026 Results</dc:title>
  <dc:creator>Richards Kevin</dc:creator>
  <cp:keywords/>
  <cp:lastModifiedBy>Switzer Susan</cp:lastModifiedBy>
  <cp:revision>15</cp:revision>
  <dcterms:created xsi:type="dcterms:W3CDTF">2025-07-24T17:25:13Z</dcterms:created>
  <dcterms:modified xsi:type="dcterms:W3CDTF">2026-04-07T19:40:28Z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